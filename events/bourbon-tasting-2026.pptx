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pnsavor.co/products/copy-of-bulk-glencairn-whisky-glasses" TargetMode="External"/><Relationship Id="rId3" Type="http://schemas.openxmlformats.org/officeDocument/2006/relationships/hyperlink" Target="https://qualityglassengraving.com/products/engraved-stolzle-glencairn-6-oz-whiskey-glass-item-3550031t" TargetMode="External"/><Relationship Id="rId4" Type="http://schemas.openxmlformats.org/officeDocument/2006/relationships/hyperlink" Target="https://crystalimagery.com/collections/glencairn-whisky-glass" TargetMode="External"/><Relationship Id="rId5" Type="http://schemas.openxmlformats.org/officeDocument/2006/relationships/hyperlink" Target="https://www.distilleryproducts.com/wholesale-glencairn/" TargetMode="External"/><Relationship Id="rId6" Type="http://schemas.openxmlformats.org/officeDocument/2006/relationships/hyperlink" Target="https://business.glencairn.com/wholesale-whisky-glasses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hick-fil-a.com/catering/catering-trays/large-hot-chick-fil-a-nuggets-tray" TargetMode="External"/><Relationship Id="rId3" Type="http://schemas.openxmlformats.org/officeDocument/2006/relationships/hyperlink" Target="https://www.chick-fil-a.com/catering/trays" TargetMode="External"/><Relationship Id="rId4" Type="http://schemas.openxmlformats.org/officeDocument/2006/relationships/hyperlink" Target="https://www.chick-fil-a.com/catering" TargetMode="External"/><Relationship Id="rId5" Type="http://schemas.openxmlformats.org/officeDocument/2006/relationships/hyperlink" Target="https://www.chick-fil-a.com/locations/nd/kirkwood-mall-n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anawineco.com/products/2026-michters-10-year-old-single-barrel-bourbon-whiskey-750ml" TargetMode="External"/><Relationship Id="rId3" Type="http://schemas.openxmlformats.org/officeDocument/2006/relationships/hyperlink" Target="https://huntsmanheritage.com/products/old-forester-birthday-bourbon-2025" TargetMode="External"/><Relationship Id="rId4" Type="http://schemas.openxmlformats.org/officeDocument/2006/relationships/hyperlink" Target="https://flaviar.com/products/the-macallan-18-year-old-sherry-oak-2025-release-single-malt-scotch-whisky-750" TargetMode="External"/><Relationship Id="rId5" Type="http://schemas.openxmlformats.org/officeDocument/2006/relationships/hyperlink" Target="https://www.totalwine.com/spirits/irish-whiskey/redbreast-21-yr-irish-whiskey/p/137936750" TargetMode="External"/><Relationship Id="rId6" Type="http://schemas.openxmlformats.org/officeDocument/2006/relationships/hyperlink" Target="https://www.blackwellswines.com/products/willett-family-estate-8-year-bourbon-whiskey" TargetMode="External"/><Relationship Id="rId7" Type="http://schemas.openxmlformats.org/officeDocument/2006/relationships/hyperlink" Target="https://thebourbonconcierge.com/collections/parkers-heritage" TargetMode="External"/><Relationship Id="rId8" Type="http://schemas.openxmlformats.org/officeDocument/2006/relationships/hyperlink" Target="https://heartriverspirits.com/paintedcanyonbourbon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pnsavor.co/products/copy-of-bulk-glencairn-whisky-glasses" TargetMode="External"/><Relationship Id="rId3" Type="http://schemas.openxmlformats.org/officeDocument/2006/relationships/hyperlink" Target="https://qualityglassengraving.com/products/engraved-stolzle-glencairn-6-oz-whiskey-glass-item-3550031t" TargetMode="External"/><Relationship Id="rId4" Type="http://schemas.openxmlformats.org/officeDocument/2006/relationships/hyperlink" Target="https://crystalimagery.com/collections/glencairn-whisky-glass" TargetMode="External"/><Relationship Id="rId5" Type="http://schemas.openxmlformats.org/officeDocument/2006/relationships/hyperlink" Target="https://www.distilleryproducts.com/wholesale-glencairn/" TargetMode="External"/><Relationship Id="rId6" Type="http://schemas.openxmlformats.org/officeDocument/2006/relationships/hyperlink" Target="https://business.glencairn.com/wholesale-whisky-glasses/" TargetMode="External"/><Relationship Id="rId7" Type="http://schemas.openxmlformats.org/officeDocument/2006/relationships/hyperlink" Target="https://www.chick-fil-a.com/catering/catering-trays/large-hot-chick-fil-a-nuggets-tray" TargetMode="External"/><Relationship Id="rId8" Type="http://schemas.openxmlformats.org/officeDocument/2006/relationships/hyperlink" Target="https://www.chick-fil-a.com/catering/trays" TargetMode="External"/><Relationship Id="rId9" Type="http://schemas.openxmlformats.org/officeDocument/2006/relationships/hyperlink" Target="https://www.chick-fil-a.com/catering" TargetMode="External"/><Relationship Id="rId10" Type="http://schemas.openxmlformats.org/officeDocument/2006/relationships/hyperlink" Target="https://www.chick-fil-a.com/locations/nd/kirkwood-mall-n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A44"/>
                </a:solidFill>
              </a:rPr>
              <a:t>DakCUPAC Bourbon &amp; Whiskey Tasting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1F4E79"/>
                </a:solidFill>
              </a:rPr>
              <a:t>Fundraiser pitch deck — subcommittee working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Prepared April 23, 2026. All linked costs verified against live listings.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Event concept: private, instructor-led tasting for CU executives, board members, and CU-affiliated PAC donors. Six pours, 90 minutes, Scott “Fuzzy” Meske leading.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Engraved Glencairn glass gifted at the door. Chick-fil-A catering.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Target: 40 attendees × $250/ticket = $10,000 gross.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Per subcommittee chair: the only costs tracked in this deck are glassware and catering. Bottles are covered by CU sponsors. Venue and instructor fee carried separately.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Why this event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Right audience for the ticket price. Credit union execs and board members sit exactly where the federal/state PAC contribution ceiling lives. $250 reads as a bourbon-tasting cost, not a fundraiser ask.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Sponsorships eat the biggest cost line. CU bottle sponsors cover the whiskey; PAC keeps the gate.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The glass is the marketing. Every attendee leaves with an engraved Glencairn that lives in their bar. DakCUPAC shows up every time they pour for the next decade.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Scott is a force multiplier. Guided tasting is a different product than “open bar with bourbon.” It justifies the ticket and gives the room a shared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numbers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Gross revenue: 40 × $250 = $10,000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Tracked costs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Engraved Glencairn glasses (48 at $15.90 each, 48+ tier 15% off): $763.20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Chick-fil-A catering (40 — spicy + non-spicy): $480 – $700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Tracked-cost subtotal: $1,243 – $1,463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Net to PAC: $8,537 – $8,757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Carried separately (not tracked here)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Bottles — covered by six CU bottle sponsors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Venue — Elks Lodge or private residence (TBD)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Scott’s instructor fee (TBD)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Glassware — 48 engraved Glencairn glasses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Confirmed tier: 48+ qty at 15% off = $15.90 USD each.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Order 48, not 40 — hits the discount tier; spares cover breakage, late RSVPs, and the sponsoring CUs.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Math: 48 × $15.90 = $763.20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Vendor options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2"/>
              </a:rPr>
              <a:t>Sip n Savor — bulk engraved Glencairn (48+ tier)</a:t>
            </a:r>
            <a:r>
              <a:rPr sz="1300">
                <a:solidFill>
                  <a:srgbClr val="555555"/>
                </a:solidFill>
              </a:rPr>
              <a:t> — $15.90/glass at 48+, free shipping over $100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3"/>
              </a:rPr>
              <a:t>Quality Glass Engraving — Stölzle Glencairn 6oz</a:t>
            </a:r>
            <a:r>
              <a:rPr sz="1300">
                <a:solidFill>
                  <a:srgbClr val="555555"/>
                </a:solidFill>
              </a:rPr>
              <a:t> — UV laser, no setup fee, 5–10 day turnaround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4"/>
              </a:rPr>
              <a:t>Crystal Imagery — Glencairn collection</a:t>
            </a:r>
            <a:r>
              <a:rPr sz="1300">
                <a:solidFill>
                  <a:srgbClr val="555555"/>
                </a:solidFill>
              </a:rPr>
              <a:t> — deep-carved engraving, quote-based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5"/>
              </a:rPr>
              <a:t>Distillery Products — wholesale Glencairn</a:t>
            </a:r>
            <a:r>
              <a:rPr sz="1300">
                <a:solidFill>
                  <a:srgbClr val="555555"/>
                </a:solidFill>
              </a:rPr>
              <a:t> — 48-case blanks at $5.90/glass before engraving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6"/>
              </a:rPr>
              <a:t>Glencairn Crystal — official wholesale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Recommendation: Sip n Savor at the confirmed tier. Artwork at T-10, delivery deadline T-3.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Catering — Chick-fil-A for 40 attendees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Per chair: both spicy and non-spicy sandwich trays so attendees can pick.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Menu items (official Chick-fil-A catering)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2"/>
              </a:rPr>
              <a:t>Large Hot Nuggets Tray</a:t>
            </a:r>
            <a:r>
              <a:rPr sz="1300">
                <a:solidFill>
                  <a:srgbClr val="555555"/>
                </a:solidFill>
              </a:rPr>
              <a:t> — 200 nuggets, serves ~25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3"/>
              </a:rPr>
              <a:t>Sandwich Tray (classic / non-spicy)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4"/>
              </a:rPr>
              <a:t>Spicy Chicken — confirm tray availability with operator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Side trays: mac &amp; cheese, waffle fries, fruit tray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Bismarck ND specifics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5"/>
              </a:rPr>
              <a:t>Chick-fil-A Kirkwood Mall (Bismarck ND)</a:t>
            </a:r>
            <a:r>
              <a:rPr sz="1300">
                <a:solidFill>
                  <a:srgbClr val="555555"/>
                </a:solidFill>
              </a:rPr>
              <a:t> — catering delivery minimum $175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Bismarck catering line: (701) 751-0793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Prices are location-gated — call or enter ZIP for a firm Bismarck quote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Planned order (spicy + non-spicy): ~$436 food + delivery/tip → budget $480 – $700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Bottle lineup — six pours, buyable around $500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Each bottle links to a real retailer where a CU sponsor can buy it today. Bottle cost is sponsor-covered, not a tracked PAC cost.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2"/>
              </a:rPr>
              <a:t>Michter’s 10 Year Single Barrel Bourbon (2026) — Cana Wine Co.</a:t>
            </a:r>
            <a:r>
              <a:rPr sz="1300">
                <a:solidFill>
                  <a:srgbClr val="555555"/>
                </a:solidFill>
              </a:rPr>
              <a:t> — $549.99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3"/>
              </a:rPr>
              <a:t>Old Forester Birthday Bourbon 2025 — Huntsman Heritage</a:t>
            </a:r>
            <a:r>
              <a:rPr sz="1300">
                <a:solidFill>
                  <a:srgbClr val="555555"/>
                </a:solidFill>
              </a:rPr>
              <a:t> — $699.99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4"/>
              </a:rPr>
              <a:t>The Macallan 18 Year Sherry Oak (2026) — Flaviar</a:t>
            </a:r>
            <a:r>
              <a:rPr sz="1300">
                <a:solidFill>
                  <a:srgbClr val="555555"/>
                </a:solidFill>
              </a:rPr>
              <a:t> — ~$412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5"/>
              </a:rPr>
              <a:t>Redbreast 21 Year Irish Whiskey — Total Wine</a:t>
            </a:r>
            <a:r>
              <a:rPr sz="1300">
                <a:solidFill>
                  <a:srgbClr val="555555"/>
                </a:solidFill>
              </a:rPr>
              <a:t> — $400–500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6"/>
              </a:rPr>
              <a:t>Willett Family Estate 8 Year Single Barrel — Blackwell’s Wines</a:t>
            </a:r>
            <a:r>
              <a:rPr sz="1300">
                <a:solidFill>
                  <a:srgbClr val="555555"/>
                </a:solidFill>
              </a:rPr>
              <a:t> — $300–550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7"/>
              </a:rPr>
              <a:t>Parker’s Heritage Collection — The Bourbon Concierge</a:t>
            </a:r>
            <a:r>
              <a:rPr sz="1300">
                <a:solidFill>
                  <a:srgbClr val="555555"/>
                </a:solidFill>
              </a:rPr>
              <a:t> — $500+ routinely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Optional 7th — host pour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8"/>
              </a:rPr>
              <a:t>Heart River Spirits — Painted Canyon Bourbon</a:t>
            </a:r>
            <a:r>
              <a:rPr sz="1300">
                <a:solidFill>
                  <a:srgbClr val="555555"/>
                </a:solidFill>
              </a:rPr>
              <a:t> (Bismarck craft distiller — quote direct)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Pricing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Glassware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2"/>
              </a:rPr>
              <a:t>Sip n Savor — bulk Glencairn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3"/>
              </a:rPr>
              <a:t>Quality Glass Engraving — Stölzle Glencairn 6oz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4"/>
              </a:rPr>
              <a:t>Crystal Imagery — Glencairn collection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5"/>
              </a:rPr>
              <a:t>Distillery Products wholesale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6"/>
              </a:rPr>
              <a:t>Glencairn Crystal wholesale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Catering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7"/>
              </a:rPr>
              <a:t>Chick-fil-A — Large Hot Nuggets Tray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8"/>
              </a:rPr>
              <a:t>Chick-fil-A — catering trays overview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9"/>
              </a:rPr>
              <a:t>Chick-fil-A — catering landing page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</a:t>
            </a:r>
            <a:r>
              <a:rPr sz="1300" u="sng">
                <a:solidFill>
                  <a:srgbClr val="1F4E79"/>
                </a:solidFill>
                <a:hlinkClick r:id="rId10"/>
              </a:rPr>
              <a:t>Chick-fil-A — Kirkwood Mall, Bismarck 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Sponsorship — six CU bottle sponsors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Each sponsoring CU covers one bottle in the tasting flight (outside tracked PAC costs).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Each sponsor receives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Tent card next to their bottle: “This pour proudly sponsored by [CU + logo]”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Verbal callout from Scott when the pour is introduced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Recognition on the printed tasting menu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Logo on check-in event signage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Two complimentary tickets (worth $500)</a:t>
            </a:r>
          </a:p>
          <a:p>
            <a:r>
              <a:rPr sz="60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Optional add-on — Featured ND Pour sponsor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Underwrites the host pour (Heart River Painted Canyon)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Lower buy-in; good fit for an ND-HQ CU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One complimentary ticket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Timeline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Working back from a target Thursday evening, late summer / early fall 2026.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T-12 weeks — confirm date with Scott; lock venue; call Bismarck Chick-fil-A for written quote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T-10 weeks — sponsor outreach to six CUs; finalize bottle list; submit Glencairn artwork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T-8 weeks — sponsorships in; glass deposit paid; venue contract signed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T-6 weeks — open ticket sales; catering order placed (revisable)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T-4 weeks — bottle sourcing confirmed; printed materials to printer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T-3 weeks — glass delivery deadline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T-2 weeks — final headcount; catering spicy/non-spicy split confirmed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T-1 week — venue walkthrough; AV check; glass delivery confirmed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Day-of — setup 4:00 PM; doors 5:30; tasting 6:00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Risks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Glass delivery slips — T-10 order, hard T-3 delivery date, non-engraved backup vendor on standby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Chick-fil-A spicy tray not offered at Bismarck — confirm at T-12; fallback is classic tray + spicy singles from the main menu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Catering pricing varies in ND — get a written quote from the Bismarck operator at T-12, not T-2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$175 catering delivery minimum — already well cleared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Headcount lands below 40 — couples-pricing or “bring a colleague” upsell at T-4; food and glass costs scale down cleanly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Subcommittee, decide today: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Approve the $250 / 40-attendee anchor — $10,000 gross target.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Approve the glassware line: 48 engraved Glencairn glasses at $15.90 each = $763.20.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Approve the catering budget: $480 – $700 for Chick-fil-A (spicy + non-spicy, nuggets, sides).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 Authorize the chair to open the conversation with Scott.</a:t>
            </a:r>
          </a:p>
          <a:p>
            <a:r>
              <a:rPr sz="600"/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Tracked-cost subtotal: $1,243 – $1,463 against a $10,000 gross.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</a:rPr>
              <a:t>Net to PAC: $8,537 – $8,757.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888888"/>
                </a:solidFill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